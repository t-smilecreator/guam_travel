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2b6f8d97-9705-504f-631f-04a2daac2137}">
          <p14:sldIdLst>
            <p14:sldId id="256"/>
          </p14:sldIdLst>
        </p14:section>
        <p14:section name="選び方" id="{c616b3f0-c9ca-fd2e-3c6c-2e257e1c024b}">
          <p14:sldIdLst>
            <p14:sldId id="257"/>
          </p14:sldIdLst>
        </p14:section>
        <p14:section name="おすすめ商品" id="{f4bb54f3-085b-cd9e-95f6-46432302b4b8}">
          <p14:sldIdLst>
            <p14:sldId id="258"/>
            <p14:sldId id="259"/>
            <p14:sldId id="260"/>
          </p14:sldIdLst>
        </p14:section>
        <p14:section name="おすすめコーデ" id="{39555463-46d9-4cb8-a056-dfa108ccf44a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2"/>
                </a:solidFill>
              </a:rPr>
              <a:t>GUAM  2027.01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グアム旅行向け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メンズ水着 提案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30代後半・細身ジャストフィット／群青・黒ベース＋柄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プール・ビーチ・街歩き兼用</a:t>
            </a:r>
            <a:endParaRPr lang="en-US" sz="1800" dirty="0"/>
          </a:p>
        </p:txBody>
      </p:sp>
      <p:sp>
        <p:nvSpPr>
          <p:cNvPr id="5" name="Sun disc"/>
          <p:cNvSpPr/>
          <p:nvPr/>
        </p:nvSpPr>
        <p:spPr>
          <a:xfrm>
            <a:off x="7223760" y="1188720"/>
            <a:ext cx="4480560" cy="44805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3"/>
            </a:solidFill>
            <a:prstDash val="solid"/>
          </a:ln>
        </p:spPr>
      </p:sp>
      <p:pic>
        <p:nvPicPr>
          <p:cNvPr id="6" name="Pal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011680"/>
            <a:ext cx="2743200" cy="2743200"/>
          </a:xfrm>
          <a:prstGeom prst="rect">
            <a:avLst/>
          </a:prstGeom>
        </p:spPr>
      </p:pic>
      <p:sp>
        <p:nvSpPr>
          <p:cNvPr id="7" name="Sun dot"/>
          <p:cNvSpPr/>
          <p:nvPr/>
        </p:nvSpPr>
        <p:spPr>
          <a:xfrm>
            <a:off x="10607040" y="7315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選び方のポイント</a:t>
            </a:r>
            <a:endParaRPr lang="en-US" sz="3200" dirty="0"/>
          </a:p>
        </p:txBody>
      </p:sp>
      <p:sp>
        <p:nvSpPr>
          <p:cNvPr id="3" name="Point 1 card"/>
          <p:cNvSpPr/>
          <p:nvPr/>
        </p:nvSpPr>
        <p:spPr>
          <a:xfrm>
            <a:off x="548640" y="155448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Point 1 circle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oi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2154784"/>
            <a:ext cx="399593" cy="399593"/>
          </a:xfrm>
          <a:prstGeom prst="rect">
            <a:avLst/>
          </a:prstGeom>
        </p:spPr>
      </p:pic>
      <p:sp>
        <p:nvSpPr>
          <p:cNvPr id="6" name="Point 1 label"/>
          <p:cNvSpPr txBox="1"/>
          <p:nvPr/>
        </p:nvSpPr>
        <p:spPr>
          <a:xfrm>
            <a:off x="1965960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丈</a:t>
            </a:r>
            <a:endParaRPr lang="en-US" sz="1300" dirty="0"/>
          </a:p>
        </p:txBody>
      </p:sp>
      <p:sp>
        <p:nvSpPr>
          <p:cNvPr id="7" name="Point 1 head"/>
          <p:cNvSpPr txBox="1"/>
          <p:nvPr/>
        </p:nvSpPr>
        <p:spPr>
          <a:xfrm>
            <a:off x="196596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膝上〜膝の中間丈</a:t>
            </a:r>
            <a:endParaRPr lang="en-US" sz="2000" dirty="0"/>
          </a:p>
        </p:txBody>
      </p:sp>
      <p:sp>
        <p:nvSpPr>
          <p:cNvPr id="8" name="Point 1 body"/>
          <p:cNvSpPr txBox="1"/>
          <p:nvPr/>
        </p:nvSpPr>
        <p:spPr>
          <a:xfrm>
            <a:off x="1965960" y="2697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細身シルエットがすっきり見え、街歩きでも水着感が出すぎない</a:t>
            </a:r>
            <a:endParaRPr lang="en-US" sz="1400" dirty="0"/>
          </a:p>
        </p:txBody>
      </p:sp>
      <p:sp>
        <p:nvSpPr>
          <p:cNvPr id="9" name="Point 2 card"/>
          <p:cNvSpPr/>
          <p:nvPr/>
        </p:nvSpPr>
        <p:spPr>
          <a:xfrm>
            <a:off x="6217920" y="155448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Point 2 circle"/>
          <p:cNvSpPr/>
          <p:nvPr/>
        </p:nvSpPr>
        <p:spPr>
          <a:xfrm>
            <a:off x="6537960" y="19202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oi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504" y="2154784"/>
            <a:ext cx="399593" cy="399593"/>
          </a:xfrm>
          <a:prstGeom prst="rect">
            <a:avLst/>
          </a:prstGeom>
        </p:spPr>
      </p:pic>
      <p:sp>
        <p:nvSpPr>
          <p:cNvPr id="12" name="Point 2 label"/>
          <p:cNvSpPr txBox="1"/>
          <p:nvPr/>
        </p:nvSpPr>
        <p:spPr>
          <a:xfrm>
            <a:off x="7635240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色・柄</a:t>
            </a:r>
            <a:endParaRPr lang="en-US" sz="1300" dirty="0"/>
          </a:p>
        </p:txBody>
      </p:sp>
      <p:sp>
        <p:nvSpPr>
          <p:cNvPr id="13" name="Point 2 head"/>
          <p:cNvSpPr txBox="1"/>
          <p:nvPr/>
        </p:nvSpPr>
        <p:spPr>
          <a:xfrm>
            <a:off x="76352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群青・黒ベース＋控えめな柄</a:t>
            </a:r>
            <a:endParaRPr lang="en-US" sz="2000" dirty="0"/>
          </a:p>
        </p:txBody>
      </p:sp>
      <p:sp>
        <p:nvSpPr>
          <p:cNvPr id="14" name="Point 2 body"/>
          <p:cNvSpPr txBox="1"/>
          <p:nvPr/>
        </p:nvSpPr>
        <p:spPr>
          <a:xfrm>
            <a:off x="7635240" y="2697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ベースは締め色、柄はリーフやボタニカルなど落ち着いたトーンで</a:t>
            </a:r>
            <a:endParaRPr lang="en-US" sz="1400" dirty="0"/>
          </a:p>
        </p:txBody>
      </p:sp>
      <p:sp>
        <p:nvSpPr>
          <p:cNvPr id="15" name="Point 3 card"/>
          <p:cNvSpPr/>
          <p:nvPr/>
        </p:nvSpPr>
        <p:spPr>
          <a:xfrm>
            <a:off x="548640" y="388620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6" name="Point 3 circle"/>
          <p:cNvSpPr/>
          <p:nvPr/>
        </p:nvSpPr>
        <p:spPr>
          <a:xfrm>
            <a:off x="868680" y="42519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Poi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4" y="4486504"/>
            <a:ext cx="399593" cy="399593"/>
          </a:xfrm>
          <a:prstGeom prst="rect">
            <a:avLst/>
          </a:prstGeom>
        </p:spPr>
      </p:pic>
      <p:sp>
        <p:nvSpPr>
          <p:cNvPr id="18" name="Point 3 label"/>
          <p:cNvSpPr txBox="1"/>
          <p:nvPr/>
        </p:nvSpPr>
        <p:spPr>
          <a:xfrm>
            <a:off x="196596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合わせ方</a:t>
            </a:r>
            <a:endParaRPr lang="en-US" sz="1300" dirty="0"/>
          </a:p>
        </p:txBody>
      </p:sp>
      <p:sp>
        <p:nvSpPr>
          <p:cNvPr id="19" name="Point 3 head"/>
          <p:cNvSpPr txBox="1"/>
          <p:nvPr/>
        </p:nvSpPr>
        <p:spPr>
          <a:xfrm>
            <a:off x="196596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黒無地ラッシュT × 柄パンツ</a:t>
            </a:r>
            <a:endParaRPr lang="en-US" sz="2000" dirty="0"/>
          </a:p>
        </p:txBody>
      </p:sp>
      <p:sp>
        <p:nvSpPr>
          <p:cNvPr id="20" name="Point 3 body"/>
          <p:cNvSpPr txBox="1"/>
          <p:nvPr/>
        </p:nvSpPr>
        <p:spPr>
          <a:xfrm>
            <a:off x="1965960" y="5029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トップスを無地で引き締めるのが大人の鉄板。日焼け対策にも</a:t>
            </a:r>
            <a:endParaRPr lang="en-US" sz="1400" dirty="0"/>
          </a:p>
        </p:txBody>
      </p:sp>
      <p:sp>
        <p:nvSpPr>
          <p:cNvPr id="21" name="Point 4 card"/>
          <p:cNvSpPr/>
          <p:nvPr/>
        </p:nvSpPr>
        <p:spPr>
          <a:xfrm>
            <a:off x="6217920" y="388620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Point 4 circle"/>
          <p:cNvSpPr/>
          <p:nvPr/>
        </p:nvSpPr>
        <p:spPr>
          <a:xfrm>
            <a:off x="6537960" y="42519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Poin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504" y="4486504"/>
            <a:ext cx="399593" cy="399593"/>
          </a:xfrm>
          <a:prstGeom prst="rect">
            <a:avLst/>
          </a:prstGeom>
        </p:spPr>
      </p:pic>
      <p:sp>
        <p:nvSpPr>
          <p:cNvPr id="24" name="Point 4 label"/>
          <p:cNvSpPr txBox="1"/>
          <p:nvPr/>
        </p:nvSpPr>
        <p:spPr>
          <a:xfrm>
            <a:off x="763524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ブランド</a:t>
            </a:r>
            <a:endParaRPr lang="en-US" sz="1300" dirty="0"/>
          </a:p>
        </p:txBody>
      </p:sp>
      <p:sp>
        <p:nvSpPr>
          <p:cNvPr id="25" name="Point 4 head"/>
          <p:cNvSpPr txBox="1"/>
          <p:nvPr/>
        </p:nvSpPr>
        <p:spPr>
          <a:xfrm>
            <a:off x="763524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クイックシルバー・ビラボン等</a:t>
            </a:r>
            <a:endParaRPr lang="en-US" sz="2000" dirty="0"/>
          </a:p>
        </p:txBody>
      </p:sp>
      <p:sp>
        <p:nvSpPr>
          <p:cNvPr id="26" name="Point 4 body"/>
          <p:cNvSpPr txBox="1"/>
          <p:nvPr/>
        </p:nvSpPr>
        <p:spPr>
          <a:xfrm>
            <a:off x="7635240" y="5029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レトロ×モダン系のサーフブランドなら年齢相応の落ち着き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おすすめ商品 01</a:t>
            </a:r>
            <a:endParaRPr lang="en-US" sz="3200" dirty="0"/>
          </a:p>
        </p:txBody>
      </p:sp>
      <p:sp>
        <p:nvSpPr>
          <p:cNvPr id="3" name="Visual panel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3409"/>
            </a:avLst>
          </a:prstGeom>
          <a:solidFill>
            <a:schemeClr val="tx2"/>
          </a:solidFill>
          <a:ln/>
        </p:spPr>
      </p:sp>
      <p:sp>
        <p:nvSpPr>
          <p:cNvPr id="4" name="Shop badge"/>
          <p:cNvSpPr txBox="1"/>
          <p:nvPr/>
        </p:nvSpPr>
        <p:spPr>
          <a:xfrm>
            <a:off x="914400" y="178308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楽天</a:t>
            </a:r>
            <a:endParaRPr lang="en-US" sz="1400" dirty="0"/>
          </a:p>
        </p:txBody>
      </p:sp>
      <p:sp>
        <p:nvSpPr>
          <p:cNvPr id="5" name="Icon halo"/>
          <p:cNvSpPr/>
          <p:nvPr/>
        </p:nvSpPr>
        <p:spPr>
          <a:xfrm>
            <a:off x="1463040" y="2560320"/>
            <a:ext cx="2194560" cy="219456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pic>
        <p:nvPicPr>
          <p:cNvPr id="6" name="Produ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971800"/>
            <a:ext cx="1371600" cy="1371600"/>
          </a:xfrm>
          <a:prstGeom prst="rect">
            <a:avLst/>
          </a:prstGeom>
        </p:spPr>
      </p:pic>
      <p:sp>
        <p:nvSpPr>
          <p:cNvPr id="7" name="Kicker"/>
          <p:cNvSpPr txBox="1"/>
          <p:nvPr/>
        </p:nvSpPr>
        <p:spPr>
          <a:xfrm>
            <a:off x="914400" y="5074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手早く揃えたい人向け</a:t>
            </a:r>
            <a:endParaRPr lang="en-US" sz="2000" dirty="0"/>
          </a:p>
        </p:txBody>
      </p:sp>
      <p:sp>
        <p:nvSpPr>
          <p:cNvPr id="8" name="Product name"/>
          <p:cNvSpPr txBox="1"/>
          <p:nvPr/>
        </p:nvSpPr>
        <p:spPr>
          <a:xfrm>
            <a:off x="4937760" y="1463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ボタニカル柄 半袖ラッシュガード＆インナー付き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メンズ水着3点セット</a:t>
            </a:r>
            <a:endParaRPr lang="en-US" sz="2000" dirty="0"/>
          </a:p>
        </p:txBody>
      </p:sp>
      <p:sp>
        <p:nvSpPr>
          <p:cNvPr id="9" name="Stat 1 card"/>
          <p:cNvSpPr/>
          <p:nvPr/>
        </p:nvSpPr>
        <p:spPr>
          <a:xfrm>
            <a:off x="4937760" y="2560320"/>
            <a:ext cx="32232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Stat 1 value"/>
          <p:cNvSpPr txBox="1"/>
          <p:nvPr/>
        </p:nvSpPr>
        <p:spPr>
          <a:xfrm>
            <a:off x="4937760" y="2670048"/>
            <a:ext cx="3223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3点</a:t>
            </a:r>
            <a:endParaRPr lang="en-US" sz="2800" dirty="0"/>
          </a:p>
        </p:txBody>
      </p:sp>
      <p:sp>
        <p:nvSpPr>
          <p:cNvPr id="11" name="Stat 1 label"/>
          <p:cNvSpPr txBox="1"/>
          <p:nvPr/>
        </p:nvSpPr>
        <p:spPr>
          <a:xfrm>
            <a:off x="4937760" y="3273552"/>
            <a:ext cx="3223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上下一式＋インナー</a:t>
            </a:r>
            <a:endParaRPr lang="en-US" sz="1200" dirty="0"/>
          </a:p>
        </p:txBody>
      </p:sp>
      <p:sp>
        <p:nvSpPr>
          <p:cNvPr id="12" name="Stat 2 card"/>
          <p:cNvSpPr/>
          <p:nvPr/>
        </p:nvSpPr>
        <p:spPr>
          <a:xfrm>
            <a:off x="8389620" y="2560320"/>
            <a:ext cx="32232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3" name="Stat 2 value"/>
          <p:cNvSpPr txBox="1"/>
          <p:nvPr/>
        </p:nvSpPr>
        <p:spPr>
          <a:xfrm>
            <a:off x="8389620" y="2670048"/>
            <a:ext cx="3223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1位</a:t>
            </a:r>
            <a:endParaRPr lang="en-US" sz="2800" dirty="0"/>
          </a:p>
        </p:txBody>
      </p:sp>
      <p:sp>
        <p:nvSpPr>
          <p:cNvPr id="14" name="Stat 2 label"/>
          <p:cNvSpPr txBox="1"/>
          <p:nvPr/>
        </p:nvSpPr>
        <p:spPr>
          <a:xfrm>
            <a:off x="8389620" y="3273552"/>
            <a:ext cx="3223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ランキング表記</a:t>
            </a:r>
            <a:endParaRPr lang="en-US" sz="1200" dirty="0"/>
          </a:p>
        </p:txBody>
      </p:sp>
      <p:sp>
        <p:nvSpPr>
          <p:cNvPr id="15" name="Row 1 key"/>
          <p:cNvSpPr txBox="1"/>
          <p:nvPr/>
        </p:nvSpPr>
        <p:spPr>
          <a:xfrm>
            <a:off x="493776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カラー</a:t>
            </a:r>
            <a:endParaRPr lang="en-US" sz="1400" dirty="0"/>
          </a:p>
        </p:txBody>
      </p:sp>
      <p:sp>
        <p:nvSpPr>
          <p:cNvPr id="16" name="Row 1 value"/>
          <p:cNvSpPr txBox="1"/>
          <p:nvPr/>
        </p:nvSpPr>
        <p:spPr>
          <a:xfrm>
            <a:off x="658368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ブラック（ボタニカル柄）</a:t>
            </a:r>
            <a:endParaRPr lang="en-US" sz="1500" dirty="0"/>
          </a:p>
        </p:txBody>
      </p:sp>
      <p:sp>
        <p:nvSpPr>
          <p:cNvPr id="17" name="Row 1 divider"/>
          <p:cNvSpPr/>
          <p:nvPr/>
        </p:nvSpPr>
        <p:spPr>
          <a:xfrm>
            <a:off x="4937760" y="4663440"/>
            <a:ext cx="66751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Row 2 key"/>
          <p:cNvSpPr txBox="1"/>
          <p:nvPr/>
        </p:nvSpPr>
        <p:spPr>
          <a:xfrm>
            <a:off x="493776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内容</a:t>
            </a:r>
            <a:endParaRPr lang="en-US" sz="1400" dirty="0"/>
          </a:p>
        </p:txBody>
      </p:sp>
      <p:sp>
        <p:nvSpPr>
          <p:cNvPr id="19" name="Row 2 value"/>
          <p:cNvSpPr txBox="1"/>
          <p:nvPr/>
        </p:nvSpPr>
        <p:spPr>
          <a:xfrm>
            <a:off x="658368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半袖ラッシュガード・サーフパンツ・インナーの上下一式</a:t>
            </a:r>
            <a:endParaRPr lang="en-US" sz="1500" dirty="0"/>
          </a:p>
        </p:txBody>
      </p:sp>
      <p:sp>
        <p:nvSpPr>
          <p:cNvPr id="20" name="Row 2 divider"/>
          <p:cNvSpPr/>
          <p:nvPr/>
        </p:nvSpPr>
        <p:spPr>
          <a:xfrm>
            <a:off x="4937760" y="5394960"/>
            <a:ext cx="66751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1" name="Row 3 key"/>
          <p:cNvSpPr txBox="1"/>
          <p:nvPr/>
        </p:nvSpPr>
        <p:spPr>
          <a:xfrm>
            <a:off x="4937760" y="5486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おすすめ理由</a:t>
            </a:r>
            <a:endParaRPr lang="en-US" sz="1400" dirty="0"/>
          </a:p>
        </p:txBody>
      </p:sp>
      <p:sp>
        <p:nvSpPr>
          <p:cNvPr id="22" name="Row 3 value"/>
          <p:cNvSpPr txBox="1"/>
          <p:nvPr/>
        </p:nvSpPr>
        <p:spPr>
          <a:xfrm>
            <a:off x="658368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柄と黒ベースのバランスが条件どおり。1回の注文で揃って迷わない</a:t>
            </a:r>
            <a:endParaRPr lang="en-US" sz="1500" dirty="0"/>
          </a:p>
        </p:txBody>
      </p:sp>
      <p:sp>
        <p:nvSpPr>
          <p:cNvPr id="23" name="Stock note"/>
          <p:cNvSpPr txBox="1"/>
          <p:nvPr/>
        </p:nvSpPr>
        <p:spPr>
          <a:xfrm>
            <a:off x="4937760" y="6263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※シーズンオフのため色・サイズの在庫は要確認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おすすめ商品 02</a:t>
            </a:r>
            <a:endParaRPr lang="en-US" sz="3200" dirty="0"/>
          </a:p>
        </p:txBody>
      </p:sp>
      <p:sp>
        <p:nvSpPr>
          <p:cNvPr id="3" name="Visual panel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3409"/>
            </a:avLst>
          </a:prstGeom>
          <a:solidFill>
            <a:schemeClr val="tx1"/>
          </a:solidFill>
          <a:ln/>
        </p:spPr>
      </p:sp>
      <p:sp>
        <p:nvSpPr>
          <p:cNvPr id="4" name="Shop badge"/>
          <p:cNvSpPr txBox="1"/>
          <p:nvPr/>
        </p:nvSpPr>
        <p:spPr>
          <a:xfrm>
            <a:off x="914400" y="178308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楽天／Amazon</a:t>
            </a:r>
            <a:endParaRPr lang="en-US" sz="1400" dirty="0"/>
          </a:p>
        </p:txBody>
      </p:sp>
      <p:sp>
        <p:nvSpPr>
          <p:cNvPr id="5" name="Icon halo"/>
          <p:cNvSpPr/>
          <p:nvPr/>
        </p:nvSpPr>
        <p:spPr>
          <a:xfrm>
            <a:off x="1463040" y="2560320"/>
            <a:ext cx="2194560" cy="219456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pic>
        <p:nvPicPr>
          <p:cNvPr id="6" name="Produ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971800"/>
            <a:ext cx="1371600" cy="1371600"/>
          </a:xfrm>
          <a:prstGeom prst="rect">
            <a:avLst/>
          </a:prstGeom>
        </p:spPr>
      </p:pic>
      <p:sp>
        <p:nvSpPr>
          <p:cNvPr id="7" name="Kicker"/>
          <p:cNvSpPr txBox="1"/>
          <p:nvPr/>
        </p:nvSpPr>
        <p:spPr>
          <a:xfrm>
            <a:off x="914400" y="5074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黒無地トップスの本命</a:t>
            </a:r>
            <a:endParaRPr lang="en-US" sz="2000" dirty="0"/>
          </a:p>
        </p:txBody>
      </p:sp>
      <p:sp>
        <p:nvSpPr>
          <p:cNvPr id="8" name="Product name"/>
          <p:cNvSpPr txBox="1"/>
          <p:nvPr/>
        </p:nvSpPr>
        <p:spPr>
          <a:xfrm>
            <a:off x="4937760" y="1463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GRID SURF 接触冷感 半袖ラッシュガード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（18G-RG1）</a:t>
            </a:r>
            <a:endParaRPr lang="en-US" sz="2000" dirty="0"/>
          </a:p>
        </p:txBody>
      </p:sp>
      <p:sp>
        <p:nvSpPr>
          <p:cNvPr id="9" name="Stat 1 card"/>
          <p:cNvSpPr/>
          <p:nvPr/>
        </p:nvSpPr>
        <p:spPr>
          <a:xfrm>
            <a:off x="4937760" y="2560320"/>
            <a:ext cx="149733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Stat 1 value"/>
          <p:cNvSpPr txBox="1"/>
          <p:nvPr/>
        </p:nvSpPr>
        <p:spPr>
          <a:xfrm>
            <a:off x="4937760" y="2670048"/>
            <a:ext cx="14973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1,709円〜</a:t>
            </a:r>
            <a:endParaRPr lang="en-US" sz="2000" dirty="0"/>
          </a:p>
        </p:txBody>
      </p:sp>
      <p:sp>
        <p:nvSpPr>
          <p:cNvPr id="11" name="Stat 1 label"/>
          <p:cNvSpPr txBox="1"/>
          <p:nvPr/>
        </p:nvSpPr>
        <p:spPr>
          <a:xfrm>
            <a:off x="4937760" y="3273552"/>
            <a:ext cx="1497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送料無料</a:t>
            </a:r>
            <a:endParaRPr lang="en-US" sz="1200" dirty="0"/>
          </a:p>
        </p:txBody>
      </p:sp>
      <p:sp>
        <p:nvSpPr>
          <p:cNvPr id="12" name="Stat 2 card"/>
          <p:cNvSpPr/>
          <p:nvPr/>
        </p:nvSpPr>
        <p:spPr>
          <a:xfrm>
            <a:off x="6663690" y="2560320"/>
            <a:ext cx="149733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3" name="Stat 2 value"/>
          <p:cNvSpPr txBox="1"/>
          <p:nvPr/>
        </p:nvSpPr>
        <p:spPr>
          <a:xfrm>
            <a:off x="6663690" y="2670048"/>
            <a:ext cx="14973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UPF50+</a:t>
            </a:r>
            <a:endParaRPr lang="en-US" sz="2000" dirty="0"/>
          </a:p>
        </p:txBody>
      </p:sp>
      <p:sp>
        <p:nvSpPr>
          <p:cNvPr id="14" name="Stat 2 label"/>
          <p:cNvSpPr txBox="1"/>
          <p:nvPr/>
        </p:nvSpPr>
        <p:spPr>
          <a:xfrm>
            <a:off x="6663690" y="3273552"/>
            <a:ext cx="1497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UVカット98%</a:t>
            </a:r>
            <a:endParaRPr lang="en-US" sz="1200" dirty="0"/>
          </a:p>
        </p:txBody>
      </p:sp>
      <p:sp>
        <p:nvSpPr>
          <p:cNvPr id="15" name="Stat 3 card"/>
          <p:cNvSpPr/>
          <p:nvPr/>
        </p:nvSpPr>
        <p:spPr>
          <a:xfrm>
            <a:off x="8389620" y="2560320"/>
            <a:ext cx="149733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6" name="Stat 3 value"/>
          <p:cNvSpPr txBox="1"/>
          <p:nvPr/>
        </p:nvSpPr>
        <p:spPr>
          <a:xfrm>
            <a:off x="8389620" y="2670048"/>
            <a:ext cx="14973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1,423件</a:t>
            </a:r>
            <a:endParaRPr lang="en-US" sz="2000" dirty="0"/>
          </a:p>
        </p:txBody>
      </p:sp>
      <p:sp>
        <p:nvSpPr>
          <p:cNvPr id="17" name="Stat 3 label"/>
          <p:cNvSpPr txBox="1"/>
          <p:nvPr/>
        </p:nvSpPr>
        <p:spPr>
          <a:xfrm>
            <a:off x="8389620" y="3273552"/>
            <a:ext cx="1497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レビュー</a:t>
            </a:r>
            <a:endParaRPr lang="en-US" sz="1200" dirty="0"/>
          </a:p>
        </p:txBody>
      </p:sp>
      <p:sp>
        <p:nvSpPr>
          <p:cNvPr id="18" name="Stat 4 card"/>
          <p:cNvSpPr/>
          <p:nvPr/>
        </p:nvSpPr>
        <p:spPr>
          <a:xfrm>
            <a:off x="10115550" y="2560320"/>
            <a:ext cx="149733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9" name="Stat 4 value"/>
          <p:cNvSpPr txBox="1"/>
          <p:nvPr/>
        </p:nvSpPr>
        <p:spPr>
          <a:xfrm>
            <a:off x="10115550" y="2670048"/>
            <a:ext cx="14973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15色柄</a:t>
            </a:r>
            <a:endParaRPr lang="en-US" sz="2000" dirty="0"/>
          </a:p>
        </p:txBody>
      </p:sp>
      <p:sp>
        <p:nvSpPr>
          <p:cNvPr id="20" name="Stat 4 label"/>
          <p:cNvSpPr txBox="1"/>
          <p:nvPr/>
        </p:nvSpPr>
        <p:spPr>
          <a:xfrm>
            <a:off x="10115550" y="3273552"/>
            <a:ext cx="1497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黒無地あり</a:t>
            </a:r>
            <a:endParaRPr lang="en-US" sz="1200" dirty="0"/>
          </a:p>
        </p:txBody>
      </p:sp>
      <p:sp>
        <p:nvSpPr>
          <p:cNvPr id="21" name="Row 1 key"/>
          <p:cNvSpPr txBox="1"/>
          <p:nvPr/>
        </p:nvSpPr>
        <p:spPr>
          <a:xfrm>
            <a:off x="493776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デザイン</a:t>
            </a:r>
            <a:endParaRPr lang="en-US" sz="1400" dirty="0"/>
          </a:p>
        </p:txBody>
      </p:sp>
      <p:sp>
        <p:nvSpPr>
          <p:cNvPr id="22" name="Row 1 value"/>
          <p:cNvSpPr txBox="1"/>
          <p:nvPr/>
        </p:nvSpPr>
        <p:spPr>
          <a:xfrm>
            <a:off x="658368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スタンドカラーで首元まですっきり</a:t>
            </a:r>
            <a:endParaRPr lang="en-US" sz="1500" dirty="0"/>
          </a:p>
        </p:txBody>
      </p:sp>
      <p:sp>
        <p:nvSpPr>
          <p:cNvPr id="23" name="Row 1 divider"/>
          <p:cNvSpPr/>
          <p:nvPr/>
        </p:nvSpPr>
        <p:spPr>
          <a:xfrm>
            <a:off x="4937760" y="4663440"/>
            <a:ext cx="66751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4" name="Row 2 key"/>
          <p:cNvSpPr txBox="1"/>
          <p:nvPr/>
        </p:nvSpPr>
        <p:spPr>
          <a:xfrm>
            <a:off x="493776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機能</a:t>
            </a:r>
            <a:endParaRPr lang="en-US" sz="1400" dirty="0"/>
          </a:p>
        </p:txBody>
      </p:sp>
      <p:sp>
        <p:nvSpPr>
          <p:cNvPr id="25" name="Row 2 value"/>
          <p:cNvSpPr txBox="1"/>
          <p:nvPr/>
        </p:nvSpPr>
        <p:spPr>
          <a:xfrm>
            <a:off x="658368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接触冷感・UVカット98%（UPF50+）</a:t>
            </a:r>
            <a:endParaRPr lang="en-US" sz="1500" dirty="0"/>
          </a:p>
        </p:txBody>
      </p:sp>
      <p:sp>
        <p:nvSpPr>
          <p:cNvPr id="26" name="Row 2 divider"/>
          <p:cNvSpPr/>
          <p:nvPr/>
        </p:nvSpPr>
        <p:spPr>
          <a:xfrm>
            <a:off x="4937760" y="5394960"/>
            <a:ext cx="66751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7" name="Row 3 key"/>
          <p:cNvSpPr txBox="1"/>
          <p:nvPr/>
        </p:nvSpPr>
        <p:spPr>
          <a:xfrm>
            <a:off x="4937760" y="5486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おすすめ理由</a:t>
            </a:r>
            <a:endParaRPr lang="en-US" sz="1400" dirty="0"/>
          </a:p>
        </p:txBody>
      </p:sp>
      <p:sp>
        <p:nvSpPr>
          <p:cNvPr id="28" name="Row 3 value"/>
          <p:cNvSpPr txBox="1"/>
          <p:nvPr/>
        </p:nvSpPr>
        <p:spPr>
          <a:xfrm>
            <a:off x="658368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低価格でレビュー多数。柄パンツと合わせる無地Tに最適</a:t>
            </a:r>
            <a:endParaRPr lang="en-US" sz="1500" dirty="0"/>
          </a:p>
        </p:txBody>
      </p:sp>
      <p:sp>
        <p:nvSpPr>
          <p:cNvPr id="29" name="Stock note"/>
          <p:cNvSpPr txBox="1"/>
          <p:nvPr/>
        </p:nvSpPr>
        <p:spPr>
          <a:xfrm>
            <a:off x="4937760" y="6263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※シーズンオフのため色・サイズの在庫は要確認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おすすめ商品 03</a:t>
            </a:r>
            <a:endParaRPr lang="en-US" sz="3200" dirty="0"/>
          </a:p>
        </p:txBody>
      </p:sp>
      <p:sp>
        <p:nvSpPr>
          <p:cNvPr id="3" name="Visual panel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3409"/>
            </a:avLst>
          </a:prstGeom>
          <a:solidFill>
            <a:schemeClr val="tx2"/>
          </a:solidFill>
          <a:ln/>
        </p:spPr>
      </p:sp>
      <p:sp>
        <p:nvSpPr>
          <p:cNvPr id="4" name="Shop badge"/>
          <p:cNvSpPr txBox="1"/>
          <p:nvPr/>
        </p:nvSpPr>
        <p:spPr>
          <a:xfrm>
            <a:off x="914400" y="1783080"/>
            <a:ext cx="23774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Amazon</a:t>
            </a:r>
            <a:endParaRPr lang="en-US" sz="1400" dirty="0"/>
          </a:p>
        </p:txBody>
      </p:sp>
      <p:sp>
        <p:nvSpPr>
          <p:cNvPr id="5" name="Icon halo"/>
          <p:cNvSpPr/>
          <p:nvPr/>
        </p:nvSpPr>
        <p:spPr>
          <a:xfrm>
            <a:off x="1463040" y="2560320"/>
            <a:ext cx="2194560" cy="219456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pic>
        <p:nvPicPr>
          <p:cNvPr id="6" name="Produ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971800"/>
            <a:ext cx="1371600" cy="1371600"/>
          </a:xfrm>
          <a:prstGeom prst="rect">
            <a:avLst/>
          </a:prstGeom>
        </p:spPr>
      </p:pic>
      <p:sp>
        <p:nvSpPr>
          <p:cNvPr id="7" name="Kicker"/>
          <p:cNvSpPr txBox="1"/>
          <p:nvPr/>
        </p:nvSpPr>
        <p:spPr>
          <a:xfrm>
            <a:off x="914400" y="5074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柄パンツの主役</a:t>
            </a:r>
            <a:endParaRPr lang="en-US" sz="2000" dirty="0"/>
          </a:p>
        </p:txBody>
      </p:sp>
      <p:sp>
        <p:nvSpPr>
          <p:cNvPr id="8" name="Product name"/>
          <p:cNvSpPr txBox="1"/>
          <p:nvPr/>
        </p:nvSpPr>
        <p:spPr>
          <a:xfrm>
            <a:off x="4937760" y="1463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ビラボン サーフパンツ D011-402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（CTL ブラックリーフ）</a:t>
            </a:r>
            <a:endParaRPr lang="en-US" sz="2000" dirty="0"/>
          </a:p>
        </p:txBody>
      </p:sp>
      <p:sp>
        <p:nvSpPr>
          <p:cNvPr id="9" name="Stat 1 card"/>
          <p:cNvSpPr/>
          <p:nvPr/>
        </p:nvSpPr>
        <p:spPr>
          <a:xfrm>
            <a:off x="4937760" y="2560320"/>
            <a:ext cx="66751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0" name="Stat 1 value"/>
          <p:cNvSpPr txBox="1"/>
          <p:nvPr/>
        </p:nvSpPr>
        <p:spPr>
          <a:xfrm>
            <a:off x="4937760" y="267004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6,600円</a:t>
            </a:r>
            <a:endParaRPr lang="en-US" sz="2800" dirty="0"/>
          </a:p>
        </p:txBody>
      </p:sp>
      <p:sp>
        <p:nvSpPr>
          <p:cNvPr id="11" name="Stat 1 label"/>
          <p:cNvSpPr txBox="1"/>
          <p:nvPr/>
        </p:nvSpPr>
        <p:spPr>
          <a:xfrm>
            <a:off x="4937760" y="32735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参考価格</a:t>
            </a:r>
            <a:endParaRPr lang="en-US" sz="1200" dirty="0"/>
          </a:p>
        </p:txBody>
      </p:sp>
      <p:sp>
        <p:nvSpPr>
          <p:cNvPr id="12" name="Row 1 key"/>
          <p:cNvSpPr txBox="1"/>
          <p:nvPr/>
        </p:nvSpPr>
        <p:spPr>
          <a:xfrm>
            <a:off x="4937760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デザイン</a:t>
            </a:r>
            <a:endParaRPr lang="en-US" sz="1400" dirty="0"/>
          </a:p>
        </p:txBody>
      </p:sp>
      <p:sp>
        <p:nvSpPr>
          <p:cNvPr id="13" name="Row 1 value"/>
          <p:cNvSpPr txBox="1"/>
          <p:nvPr/>
        </p:nvSpPr>
        <p:spPr>
          <a:xfrm>
            <a:off x="658368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黒地にリーフ柄のボードショーツ</a:t>
            </a:r>
            <a:endParaRPr lang="en-US" sz="1500" dirty="0"/>
          </a:p>
        </p:txBody>
      </p:sp>
      <p:sp>
        <p:nvSpPr>
          <p:cNvPr id="14" name="Row 1 divider"/>
          <p:cNvSpPr/>
          <p:nvPr/>
        </p:nvSpPr>
        <p:spPr>
          <a:xfrm>
            <a:off x="4937760" y="4663440"/>
            <a:ext cx="66751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Row 2 key"/>
          <p:cNvSpPr txBox="1"/>
          <p:nvPr/>
        </p:nvSpPr>
        <p:spPr>
          <a:xfrm>
            <a:off x="493776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機能</a:t>
            </a:r>
            <a:endParaRPr lang="en-US" sz="1400" dirty="0"/>
          </a:p>
        </p:txBody>
      </p:sp>
      <p:sp>
        <p:nvSpPr>
          <p:cNvPr id="16" name="Row 2 value"/>
          <p:cNvSpPr txBox="1"/>
          <p:nvPr/>
        </p:nvSpPr>
        <p:spPr>
          <a:xfrm>
            <a:off x="658368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インナー・ポケット付きで街歩きも安心</a:t>
            </a:r>
            <a:endParaRPr lang="en-US" sz="1500" dirty="0"/>
          </a:p>
        </p:txBody>
      </p:sp>
      <p:sp>
        <p:nvSpPr>
          <p:cNvPr id="17" name="Row 2 divider"/>
          <p:cNvSpPr/>
          <p:nvPr/>
        </p:nvSpPr>
        <p:spPr>
          <a:xfrm>
            <a:off x="4937760" y="5394960"/>
            <a:ext cx="66751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Row 3 key"/>
          <p:cNvSpPr txBox="1"/>
          <p:nvPr/>
        </p:nvSpPr>
        <p:spPr>
          <a:xfrm>
            <a:off x="4937760" y="5486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おすすめ理由</a:t>
            </a:r>
            <a:endParaRPr lang="en-US" sz="1400" dirty="0"/>
          </a:p>
        </p:txBody>
      </p:sp>
      <p:sp>
        <p:nvSpPr>
          <p:cNvPr id="19" name="Row 3 value"/>
          <p:cNvSpPr txBox="1"/>
          <p:nvPr/>
        </p:nvSpPr>
        <p:spPr>
          <a:xfrm>
            <a:off x="658368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レトロ×モダンな定番ブランド。大人っぽい黒×柄で条件にぴったり</a:t>
            </a:r>
            <a:endParaRPr lang="en-US" sz="1500" dirty="0"/>
          </a:p>
        </p:txBody>
      </p:sp>
      <p:sp>
        <p:nvSpPr>
          <p:cNvPr id="20" name="Stock note"/>
          <p:cNvSpPr txBox="1"/>
          <p:nvPr/>
        </p:nvSpPr>
        <p:spPr>
          <a:xfrm>
            <a:off x="4937760" y="6263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※シーズンオフのため色・サイズの在庫は要確認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おすすめコーデ：黒無地T × ブラックリーフ柄</a:t>
            </a:r>
            <a:endParaRPr lang="en-US" sz="3200" dirty="0"/>
          </a:p>
        </p:txBody>
      </p:sp>
      <p:sp>
        <p:nvSpPr>
          <p:cNvPr id="3" name="Top card"/>
          <p:cNvSpPr/>
          <p:nvPr/>
        </p:nvSpPr>
        <p:spPr>
          <a:xfrm>
            <a:off x="548640" y="1600200"/>
            <a:ext cx="3291840" cy="3108960"/>
          </a:xfrm>
          <a:prstGeom prst="roundRect">
            <a:avLst>
              <a:gd name="adj" fmla="val 4412"/>
            </a:avLst>
          </a:prstGeom>
          <a:solidFill>
            <a:schemeClr val="tx2"/>
          </a:solidFill>
          <a:ln/>
        </p:spPr>
      </p:sp>
      <p:pic>
        <p:nvPicPr>
          <p:cNvPr id="4" name="To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74520"/>
            <a:ext cx="1005840" cy="1005840"/>
          </a:xfrm>
          <a:prstGeom prst="rect">
            <a:avLst/>
          </a:prstGeom>
        </p:spPr>
      </p:pic>
      <p:sp>
        <p:nvSpPr>
          <p:cNvPr id="5" name="Top shop"/>
          <p:cNvSpPr txBox="1"/>
          <p:nvPr/>
        </p:nvSpPr>
        <p:spPr>
          <a:xfrm>
            <a:off x="77724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GRID SURF</a:t>
            </a:r>
            <a:endParaRPr lang="en-US" sz="1200" dirty="0"/>
          </a:p>
        </p:txBody>
      </p:sp>
      <p:sp>
        <p:nvSpPr>
          <p:cNvPr id="6" name="Top name"/>
          <p:cNvSpPr txBox="1"/>
          <p:nvPr/>
        </p:nvSpPr>
        <p:spPr>
          <a:xfrm>
            <a:off x="77724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接触冷感 半袖ラッシュガード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（黒）</a:t>
            </a:r>
            <a:endParaRPr lang="en-US" sz="1500" dirty="0"/>
          </a:p>
        </p:txBody>
      </p:sp>
      <p:sp>
        <p:nvSpPr>
          <p:cNvPr id="7" name="Top price"/>
          <p:cNvSpPr txBox="1"/>
          <p:nvPr/>
        </p:nvSpPr>
        <p:spPr>
          <a:xfrm>
            <a:off x="77724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1,709円〜</a:t>
            </a:r>
            <a:endParaRPr lang="en-US" sz="2000" dirty="0"/>
          </a:p>
        </p:txBody>
      </p:sp>
      <p:pic>
        <p:nvPicPr>
          <p:cNvPr id="8" name="Plu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880360"/>
            <a:ext cx="457200" cy="457200"/>
          </a:xfrm>
          <a:prstGeom prst="rect">
            <a:avLst/>
          </a:prstGeom>
        </p:spPr>
      </p:pic>
      <p:sp>
        <p:nvSpPr>
          <p:cNvPr id="9" name="Bottom card"/>
          <p:cNvSpPr/>
          <p:nvPr/>
        </p:nvSpPr>
        <p:spPr>
          <a:xfrm>
            <a:off x="4572000" y="1600200"/>
            <a:ext cx="3291840" cy="3108960"/>
          </a:xfrm>
          <a:prstGeom prst="roundRect">
            <a:avLst>
              <a:gd name="adj" fmla="val 4412"/>
            </a:avLst>
          </a:prstGeom>
          <a:solidFill>
            <a:schemeClr val="tx2"/>
          </a:solidFill>
          <a:ln/>
        </p:spPr>
      </p:sp>
      <p:pic>
        <p:nvPicPr>
          <p:cNvPr id="10" name="Bottom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874520"/>
            <a:ext cx="1005840" cy="1005840"/>
          </a:xfrm>
          <a:prstGeom prst="rect">
            <a:avLst/>
          </a:prstGeom>
        </p:spPr>
      </p:pic>
      <p:sp>
        <p:nvSpPr>
          <p:cNvPr id="11" name="Bottom shop"/>
          <p:cNvSpPr txBox="1"/>
          <p:nvPr/>
        </p:nvSpPr>
        <p:spPr>
          <a:xfrm>
            <a:off x="480060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BILLABONG</a:t>
            </a:r>
            <a:endParaRPr lang="en-US" sz="1200" dirty="0"/>
          </a:p>
        </p:txBody>
      </p:sp>
      <p:sp>
        <p:nvSpPr>
          <p:cNvPr id="12" name="Bottom name"/>
          <p:cNvSpPr txBox="1"/>
          <p:nvPr/>
        </p:nvSpPr>
        <p:spPr>
          <a:xfrm>
            <a:off x="480060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サーフパンツ D011-402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（ブラックリーフ）</a:t>
            </a:r>
            <a:endParaRPr lang="en-US" sz="1500" dirty="0"/>
          </a:p>
        </p:txBody>
      </p:sp>
      <p:sp>
        <p:nvSpPr>
          <p:cNvPr id="13" name="Bottom price"/>
          <p:cNvSpPr txBox="1"/>
          <p:nvPr/>
        </p:nvSpPr>
        <p:spPr>
          <a:xfrm>
            <a:off x="480060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6,600円</a:t>
            </a:r>
            <a:endParaRPr lang="en-US" sz="2000" dirty="0"/>
          </a:p>
        </p:txBody>
      </p:sp>
      <p:sp>
        <p:nvSpPr>
          <p:cNvPr id="14" name="Total"/>
          <p:cNvSpPr txBox="1"/>
          <p:nvPr/>
        </p:nvSpPr>
        <p:spPr>
          <a:xfrm>
            <a:off x="8229600" y="1600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合計</a:t>
            </a:r>
            <a:endParaRPr lang="en-US" sz="18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約8,000円</a:t>
            </a:r>
            <a:endParaRPr lang="en-US" sz="1800" dirty="0"/>
          </a:p>
        </p:txBody>
      </p:sp>
      <p:sp>
        <p:nvSpPr>
          <p:cNvPr id="15" name="Why"/>
          <p:cNvSpPr txBox="1"/>
          <p:nvPr/>
        </p:nvSpPr>
        <p:spPr>
          <a:xfrm>
            <a:off x="8229600" y="31546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トップスを黒無地で締め、柄はパンツだけ。細身でも大人っぽくまとまり、そのまま街歩きにも</a:t>
            </a:r>
            <a:endParaRPr lang="en-US" sz="1400" dirty="0"/>
          </a:p>
        </p:txBody>
      </p:sp>
      <p:sp>
        <p:nvSpPr>
          <p:cNvPr id="16" name="Alt card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17" name="Alt circle"/>
          <p:cNvSpPr/>
          <p:nvPr/>
        </p:nvSpPr>
        <p:spPr>
          <a:xfrm>
            <a:off x="822960" y="5212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l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5409590"/>
            <a:ext cx="336499" cy="336499"/>
          </a:xfrm>
          <a:prstGeom prst="rect">
            <a:avLst/>
          </a:prstGeom>
        </p:spPr>
      </p:pic>
      <p:sp>
        <p:nvSpPr>
          <p:cNvPr id="19" name="Alt text"/>
          <p:cNvSpPr txBox="1"/>
          <p:nvPr/>
        </p:nvSpPr>
        <p:spPr>
          <a:xfrm>
            <a:off x="1828800" y="51206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手早く揃えるなら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楽天のボタニカル柄 3点セット（ブラック）で上下一式</a:t>
            </a:r>
            <a:endParaRPr lang="en-US" sz="1600" dirty="0"/>
          </a:p>
        </p:txBody>
      </p:sp>
      <p:sp>
        <p:nvSpPr>
          <p:cNvPr id="20" name="Stock note"/>
          <p:cNvSpPr txBox="1"/>
          <p:nvPr/>
        </p:nvSpPr>
        <p:spPr>
          <a:xfrm>
            <a:off x="1828800" y="55778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※シーズンオフのため色・サイズの在庫は購入前に要確認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m Swim">
  <a:themeElements>
    <a:clrScheme name="Guam Swim">
      <a:dk1>
        <a:srgbClr val="111418"/>
      </a:dk1>
      <a:lt1>
        <a:srgbClr val="FFFFFF"/>
      </a:lt1>
      <a:dk2>
        <a:srgbClr val="1B2A6B"/>
      </a:dk2>
      <a:lt2>
        <a:srgbClr val="E8ECF8"/>
      </a:lt2>
      <a:accent1>
        <a:srgbClr val="1B2A6B"/>
      </a:accent1>
      <a:accent2>
        <a:srgbClr val="F26B4F"/>
      </a:accent2>
      <a:accent3>
        <a:srgbClr val="2BB3C0"/>
      </a:accent3>
      <a:accent4>
        <a:srgbClr val="5B6270"/>
      </a:accent4>
      <a:accent5>
        <a:srgbClr val="F4F6FB"/>
      </a:accent5>
      <a:accent6>
        <a:srgbClr val="8A94B8"/>
      </a:accent6>
      <a:hlink>
        <a:srgbClr val="2BB3C0"/>
      </a:hlink>
      <a:folHlink>
        <a:srgbClr val="8A94B8"/>
      </a:folHlink>
    </a:clrScheme>
    <a:fontScheme name="Guam Swim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グアム旅行向け メンズ水着 提案</dc:title>
  <dc:subject>PptxGenJS Presentation</dc:subject>
  <dc:creator>PptxGenJS</dc:creator>
  <cp:lastModifiedBy>PptxGenJS</cp:lastModifiedBy>
  <cp:revision>1</cp:revision>
  <dcterms:created xsi:type="dcterms:W3CDTF">2026-10-03T23:02:55Z</dcterms:created>
  <dcterms:modified xsi:type="dcterms:W3CDTF">2026-10-03T23:02:55Z</dcterms:modified>
</cp:coreProperties>
</file>